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4630400" cy="8229600"/>
  <p:notesSz cx="8229600" cy="14630400"/>
  <p:embeddedFontLst>
    <p:embeddedFont>
      <p:font typeface="Tomorrow Semi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al Rounded MT Bold" panose="020F0704030504030204" pitchFamily="34" charset="0"/>
      <p:regular r:id="rId19"/>
    </p:embeddedFont>
    <p:embeddedFont>
      <p:font typeface="SimSun" panose="02010600030101010101" pitchFamily="2" charset="-122"/>
      <p:regular r:id="rId20"/>
    </p:embeddedFont>
    <p:embeddedFont>
      <p:font typeface="Tomorrow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8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387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klab.iti.gr/files/oil-spill-detection-dataset.zi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hyperlink" Target="mailto:harshitrana1903@gmail.com" TargetMode="External"/><Relationship Id="rId4" Type="http://schemas.openxmlformats.org/officeDocument/2006/relationships/hyperlink" Target="mailto:code4ss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1900" y="725805"/>
            <a:ext cx="7556421" cy="1541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Oil Spill Detection in SAR Imagery using DeepLabV3+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1900" y="2620804"/>
            <a:ext cx="7556421" cy="397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Real-time marine monitoring via semantic segmentation. </a:t>
            </a: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>
              <a:lnSpc>
                <a:spcPts val="2850"/>
              </a:lnSpc>
            </a:pP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3200" b="1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Presented by:</a:t>
            </a:r>
          </a:p>
          <a:p>
            <a:pPr>
              <a:lnSpc>
                <a:spcPts val="2850"/>
              </a:lnSpc>
            </a:pPr>
            <a:endParaRPr lang="en-US" sz="3200" b="1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240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Suryansh Singh &amp; Harshit Rana </a:t>
            </a:r>
            <a:endParaRPr lang="en-US" sz="2400" dirty="0">
              <a:latin typeface="Arial Rounded MT Bold" panose="020F0704030504030204" pitchFamily="34" charset="0"/>
            </a:endParaRPr>
          </a:p>
          <a:p>
            <a:pPr>
              <a:lnSpc>
                <a:spcPts val="2850"/>
              </a:lnSpc>
            </a:pPr>
            <a:endParaRPr lang="en-US" sz="2400" dirty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>
              <a:lnSpc>
                <a:spcPts val="2850"/>
              </a:lnSpc>
            </a:pPr>
            <a:endParaRPr lang="en-US" sz="240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1900" y="5789652"/>
            <a:ext cx="126563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 Rounded MT Bold" panose="020F0704030504030204" pitchFamily="34" charset="0"/>
                <a:ea typeface="Tomorrow Medium" pitchFamily="34" charset="-122"/>
                <a:cs typeface="Tomorrow Medium" pitchFamily="34" charset="-120"/>
              </a:rPr>
              <a:t>Bj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0737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The Challenge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1226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200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Marine Impact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69093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Oil spills harm ecosystems and marine life severely.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13803" y="31226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200519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Detection Challenges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50919" y="404526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Manual detection is slow and prone to errors.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2247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SAR Advantages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0906" y="57929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Radar data works anytime regardless of clouds or night.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112" y="7536919"/>
            <a:ext cx="3681288" cy="66074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25" y="0"/>
            <a:ext cx="5127975" cy="81976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151"/>
            <a:ext cx="64760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Objective &amp; Motivation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35906"/>
            <a:ext cx="34613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What We Aim to Achieve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170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Detect and segment oil spills, ships, land, and look-alikes.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Improve pixel-level accuracy over existing models like 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</a:rPr>
              <a:t>DeepLabV3+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6272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Provide precise and faster decisions for agencies.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89" y="6328893"/>
            <a:ext cx="6476049" cy="90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Enhancing environmental safety through deep learning applied to SAR imagery.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0345" y="7741385"/>
            <a:ext cx="2720055" cy="4882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649" y="606406"/>
            <a:ext cx="5865933" cy="34118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648" y="4730093"/>
            <a:ext cx="5865933" cy="33319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0" y="144741"/>
            <a:ext cx="535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Arial Rounded MT Bold" panose="020F0704030504030204" pitchFamily="34" charset="0"/>
              </a:rPr>
              <a:t>Image : </a:t>
            </a:r>
            <a:endParaRPr lang="en-IN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48649" y="4149119"/>
            <a:ext cx="1866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latin typeface="Arial Rounded MT Bold" panose="020F0704030504030204" pitchFamily="34" charset="0"/>
              </a:rPr>
              <a:t>Label :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5117" y="509285"/>
            <a:ext cx="64255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SAR Dataset Overview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4217" y="1511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Dataset Details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4217" y="19712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1002 training images, 110 test images.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9337" y="2529300"/>
            <a:ext cx="87360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Five labeled classes: Sea Surface, Oil Spill, Look-alike, Ship, Land.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4217" y="3087345"/>
            <a:ext cx="81264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Custom preprocessing: resizing, normalization, label correction.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01874" y="3778059"/>
            <a:ext cx="92946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Masked SAR images reveal detailed segmentation of critical marine features.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6068" y="7787084"/>
            <a:ext cx="2239441" cy="40195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9337" y="5066887"/>
            <a:ext cx="31019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RGB Masks</a:t>
            </a:r>
            <a:r>
              <a:rPr lang="en-IN" sz="2400" b="1" dirty="0" smtClean="0">
                <a:latin typeface="Arial Rounded MT Bold" panose="020F0704030504030204" pitchFamily="34" charset="0"/>
              </a:rPr>
              <a:t>: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Black </a:t>
            </a:r>
            <a:r>
              <a:rPr lang="en-IN" sz="2400" dirty="0">
                <a:latin typeface="Arial Rounded MT Bold" panose="020F0704030504030204" pitchFamily="34" charset="0"/>
              </a:rPr>
              <a:t>- Sea </a:t>
            </a:r>
            <a:r>
              <a:rPr lang="en-IN" sz="2400" dirty="0" smtClean="0">
                <a:latin typeface="Arial Rounded MT Bold" panose="020F0704030504030204" pitchFamily="34" charset="0"/>
              </a:rPr>
              <a:t>Surface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Cyan  </a:t>
            </a:r>
            <a:r>
              <a:rPr lang="en-IN" sz="2400" dirty="0">
                <a:latin typeface="Arial Rounded MT Bold" panose="020F0704030504030204" pitchFamily="34" charset="0"/>
              </a:rPr>
              <a:t>- Oil </a:t>
            </a:r>
            <a:r>
              <a:rPr lang="en-IN" sz="2400" dirty="0" smtClean="0">
                <a:latin typeface="Arial Rounded MT Bold" panose="020F0704030504030204" pitchFamily="34" charset="0"/>
              </a:rPr>
              <a:t>Spill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Red   </a:t>
            </a:r>
            <a:r>
              <a:rPr lang="en-IN" sz="2400" dirty="0">
                <a:latin typeface="Arial Rounded MT Bold" panose="020F0704030504030204" pitchFamily="34" charset="0"/>
              </a:rPr>
              <a:t>- </a:t>
            </a:r>
            <a:r>
              <a:rPr lang="en-IN" sz="2400" dirty="0" smtClean="0">
                <a:latin typeface="Arial Rounded MT Bold" panose="020F0704030504030204" pitchFamily="34" charset="0"/>
              </a:rPr>
              <a:t>Look-alike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Brown – Ship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Green </a:t>
            </a:r>
            <a:r>
              <a:rPr lang="en-IN" sz="2400" dirty="0">
                <a:latin typeface="Arial Rounded MT Bold" panose="020F0704030504030204" pitchFamily="34" charset="0"/>
              </a:rPr>
              <a:t>- 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3166" y="5122416"/>
            <a:ext cx="34038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RGB Values</a:t>
            </a:r>
            <a:r>
              <a:rPr lang="en-IN" sz="2400" b="1" dirty="0" smtClean="0">
                <a:latin typeface="Arial Rounded MT Bold" panose="020F0704030504030204" pitchFamily="34" charset="0"/>
              </a:rPr>
              <a:t>: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Black </a:t>
            </a:r>
            <a:r>
              <a:rPr lang="en-IN" sz="2400" dirty="0">
                <a:latin typeface="Arial Rounded MT Bold" panose="020F0704030504030204" pitchFamily="34" charset="0"/>
              </a:rPr>
              <a:t>- (0, 0, 0</a:t>
            </a:r>
            <a:r>
              <a:rPr lang="en-IN" sz="2400" dirty="0" smtClean="0">
                <a:latin typeface="Arial Rounded MT Bold" panose="020F0704030504030204" pitchFamily="34" charset="0"/>
              </a:rPr>
              <a:t>)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Cyan  </a:t>
            </a:r>
            <a:r>
              <a:rPr lang="en-IN" sz="2400" dirty="0">
                <a:latin typeface="Arial Rounded MT Bold" panose="020F0704030504030204" pitchFamily="34" charset="0"/>
              </a:rPr>
              <a:t>- (0, 255, 255</a:t>
            </a:r>
            <a:r>
              <a:rPr lang="en-IN" sz="2400" dirty="0" smtClean="0">
                <a:latin typeface="Arial Rounded MT Bold" panose="020F0704030504030204" pitchFamily="34" charset="0"/>
              </a:rPr>
              <a:t>)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Red   </a:t>
            </a:r>
            <a:r>
              <a:rPr lang="en-IN" sz="2400" dirty="0">
                <a:latin typeface="Arial Rounded MT Bold" panose="020F0704030504030204" pitchFamily="34" charset="0"/>
              </a:rPr>
              <a:t>- (255, 0, 0</a:t>
            </a:r>
            <a:r>
              <a:rPr lang="en-IN" sz="2400" dirty="0" smtClean="0">
                <a:latin typeface="Arial Rounded MT Bold" panose="020F0704030504030204" pitchFamily="34" charset="0"/>
              </a:rPr>
              <a:t>)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Brown </a:t>
            </a:r>
            <a:r>
              <a:rPr lang="en-IN" sz="2400" dirty="0">
                <a:latin typeface="Arial Rounded MT Bold" panose="020F0704030504030204" pitchFamily="34" charset="0"/>
              </a:rPr>
              <a:t>- (153, 76, 0</a:t>
            </a:r>
            <a:r>
              <a:rPr lang="en-IN" sz="2400" dirty="0" smtClean="0">
                <a:latin typeface="Arial Rounded MT Bold" panose="020F0704030504030204" pitchFamily="34" charset="0"/>
              </a:rPr>
              <a:t>)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Green </a:t>
            </a:r>
            <a:r>
              <a:rPr lang="en-IN" sz="2400" dirty="0">
                <a:latin typeface="Arial Rounded MT Bold" panose="020F0704030504030204" pitchFamily="34" charset="0"/>
              </a:rPr>
              <a:t>- (0, 153,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78940" y="5169111"/>
            <a:ext cx="40915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1-D Labels</a:t>
            </a:r>
            <a:r>
              <a:rPr lang="en-IN" sz="2400" b="1" dirty="0" smtClean="0">
                <a:latin typeface="Arial Rounded MT Bold" panose="020F0704030504030204" pitchFamily="34" charset="0"/>
              </a:rPr>
              <a:t>: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0 </a:t>
            </a:r>
            <a:r>
              <a:rPr lang="en-IN" sz="2400" dirty="0">
                <a:latin typeface="Arial Rounded MT Bold" panose="020F0704030504030204" pitchFamily="34" charset="0"/>
              </a:rPr>
              <a:t>- Sea </a:t>
            </a:r>
            <a:r>
              <a:rPr lang="en-IN" sz="2400" dirty="0" smtClean="0">
                <a:latin typeface="Arial Rounded MT Bold" panose="020F0704030504030204" pitchFamily="34" charset="0"/>
              </a:rPr>
              <a:t>Surface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1 </a:t>
            </a:r>
            <a:r>
              <a:rPr lang="en-IN" sz="2400" dirty="0">
                <a:latin typeface="Arial Rounded MT Bold" panose="020F0704030504030204" pitchFamily="34" charset="0"/>
              </a:rPr>
              <a:t>- Oil </a:t>
            </a:r>
            <a:r>
              <a:rPr lang="en-IN" sz="2400" dirty="0" smtClean="0">
                <a:latin typeface="Arial Rounded MT Bold" panose="020F0704030504030204" pitchFamily="34" charset="0"/>
              </a:rPr>
              <a:t>Spill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2 </a:t>
            </a:r>
            <a:r>
              <a:rPr lang="en-IN" sz="2400" dirty="0">
                <a:latin typeface="Arial Rounded MT Bold" panose="020F0704030504030204" pitchFamily="34" charset="0"/>
              </a:rPr>
              <a:t>- </a:t>
            </a:r>
            <a:r>
              <a:rPr lang="en-IN" sz="2400" dirty="0" smtClean="0">
                <a:latin typeface="Arial Rounded MT Bold" panose="020F0704030504030204" pitchFamily="34" charset="0"/>
              </a:rPr>
              <a:t>Look-alike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3 – Ship</a:t>
            </a:r>
          </a:p>
          <a:p>
            <a:r>
              <a:rPr lang="en-IN" sz="2400" dirty="0" smtClean="0">
                <a:latin typeface="Arial Rounded MT Bold" panose="020F0704030504030204" pitchFamily="34" charset="0"/>
              </a:rPr>
              <a:t>4 </a:t>
            </a:r>
            <a:r>
              <a:rPr lang="en-IN" sz="2400" dirty="0">
                <a:latin typeface="Arial Rounded MT Bold" panose="020F0704030504030204" pitchFamily="34" charset="0"/>
              </a:rPr>
              <a:t>- 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72412" y="465948"/>
            <a:ext cx="7306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DeepLabV3+ Architecture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1054" y="13319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382043" y="1491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3837" y="190007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ResNet backbone for powerful feature extraction.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6725" y="24444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ASPP module captures multi-scale context.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6205" y="280733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Hybrid loss combines cross entropy and dice loss.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89358" y="39850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740896" y="464749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Delivers semantic segmentation for pixel-level accuracy.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" y="1331988"/>
            <a:ext cx="14609345" cy="6847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480318"/>
            <a:ext cx="1463040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Training &amp; Evaluation Setup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910007"/>
            <a:ext cx="7556421" cy="2191345"/>
          </a:xfrm>
          <a:prstGeom prst="roundRect">
            <a:avLst>
              <a:gd name="adj" fmla="val 1553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1368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Training Details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62723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Google Colab GPU (T4)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07004" y="406943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80 Epochs, Batch Size 4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07004" y="4511635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Image Size 256×256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80190" y="5328166"/>
            <a:ext cx="7556421" cy="1749147"/>
          </a:xfrm>
          <a:prstGeom prst="roundRect">
            <a:avLst>
              <a:gd name="adj" fmla="val 1945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6507004" y="55549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Evaluation Metrics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07004" y="604539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Accuracy, Precision, Recall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648759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F1-Score, Intersection over Union (IoU)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948"/>
            <a:ext cx="14630400" cy="6696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5833" y="532924"/>
            <a:ext cx="6058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Performance Results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Visual Results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Predicted masks closely align with ground truth labels.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Effective distinction between oil spills and look-alike phenomena.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713678"/>
            <a:ext cx="2889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Quantitative Metrics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42948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High precision and recall values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7370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Superior IoU scores over baseline methods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96753"/>
            <a:ext cx="11874460" cy="519613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5135" y="7493302"/>
            <a:ext cx="2705265" cy="6981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49" y="1315193"/>
            <a:ext cx="13144501" cy="3227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463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latin typeface="Arial Rounded MT Bold" panose="020F0704030504030204" pitchFamily="34" charset="0"/>
              </a:rPr>
              <a:t>Result &amp;Outcome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48" y="774888"/>
            <a:ext cx="3409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2800" dirty="0">
                <a:latin typeface="Arial Rounded MT Bold" panose="020F0704030504030204" pitchFamily="34" charset="0"/>
                <a:ea typeface="SimSun" panose="02010600030101010101" pitchFamily="2" charset="-122"/>
              </a:rPr>
              <a:t>The initial </a:t>
            </a:r>
            <a:r>
              <a:rPr lang="en-US" sz="2800" dirty="0" smtClean="0">
                <a:latin typeface="Arial Rounded MT Bold" panose="020F0704030504030204" pitchFamily="34" charset="0"/>
                <a:ea typeface="SimSun" panose="02010600030101010101" pitchFamily="2" charset="-122"/>
              </a:rPr>
              <a:t>result</a:t>
            </a:r>
            <a:endParaRPr lang="en-IN" sz="3600" dirty="0">
              <a:effectLst/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49" y="4687905"/>
            <a:ext cx="4075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2800" dirty="0" smtClean="0">
                <a:latin typeface="Arial Rounded MT Bold" panose="020F0704030504030204" pitchFamily="34" charset="0"/>
              </a:rPr>
              <a:t>Result after 15 epochs</a:t>
            </a:r>
            <a:endParaRPr lang="en-IN" sz="4800" dirty="0"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590548" y="5211125"/>
            <a:ext cx="13144501" cy="30184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5049" y="7648555"/>
            <a:ext cx="895351" cy="58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1288" y="1928805"/>
            <a:ext cx="2109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 Rounded MT Bold" panose="020F0704030504030204" pitchFamily="34" charset="0"/>
                <a:ea typeface="SimSun" panose="02010600030101010101" pitchFamily="2" charset="-122"/>
              </a:rPr>
              <a:t>Final </a:t>
            </a:r>
            <a:r>
              <a:rPr lang="en-US" sz="2800" b="1" dirty="0">
                <a:latin typeface="Arial Rounded MT Bold" panose="020F0704030504030204" pitchFamily="34" charset="0"/>
                <a:ea typeface="SimSun" panose="02010600030101010101" pitchFamily="2" charset="-122"/>
              </a:rPr>
              <a:t>result</a:t>
            </a:r>
            <a:endParaRPr lang="en-IN" sz="2800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007" y="7695379"/>
            <a:ext cx="2741393" cy="534221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741288" y="2722556"/>
            <a:ext cx="12819437" cy="348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0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4023" y="1031200"/>
            <a:ext cx="6056828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Future Enhancements</a:t>
            </a:r>
            <a:endParaRPr lang="en-US" sz="4200" dirty="0">
              <a:latin typeface="Arial Rounded MT Bold" panose="020F070403050403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3" y="2027634"/>
            <a:ext cx="1077278" cy="12926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436" y="2243018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Diverse Data</a:t>
            </a:r>
            <a:endParaRPr lang="en-US" sz="21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54436" y="2708791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Expand dataset across seas and seasons for robustness.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23" y="3320296"/>
            <a:ext cx="1077278" cy="12926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436" y="3535680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Optimization</a:t>
            </a:r>
            <a:endParaRPr lang="en-US" sz="21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54436" y="4001453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Improve memory usage for high-resolution images.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23" y="4612958"/>
            <a:ext cx="1077278" cy="1292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436" y="4828342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New Targets</a:t>
            </a:r>
            <a:endParaRPr lang="en-US" sz="21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54436" y="5294114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Detect plastic waste, chemical spills, and toxic substances.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23" y="5905619"/>
            <a:ext cx="1077278" cy="1292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436" y="6121003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Deployment</a:t>
            </a:r>
            <a:endParaRPr lang="en-US" sz="21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154436" y="6586776"/>
            <a:ext cx="623554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Real-time satellite and drone monitoring with alert systems.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5556" y="7060764"/>
            <a:ext cx="6303213" cy="1131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89440" y="1043107"/>
            <a:ext cx="70918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Final Thoughts &amp; Thanks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8008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878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Summary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36911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DeepLabV3+ offers efficient, accurate oil spill detection.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30906" y="3868103"/>
            <a:ext cx="7860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Outperforms bounding-box models in real marine environments.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30906" y="435983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Ready for scaling and real-world integration</a:t>
            </a: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>
              <a:solidFill>
                <a:srgbClr val="61615C"/>
              </a:solidFill>
              <a:latin typeface="Arial Rounded MT Bold" panose="020F0704030504030204" pitchFamily="34" charset="0"/>
            </a:endParaRP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Dataset Link : </a:t>
            </a: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  <a:hlinkClick r:id="rId3"/>
              </a:rPr>
              <a:t>https://</a:t>
            </a: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  <a:hlinkClick r:id="rId3"/>
              </a:rPr>
              <a:t>mklab.iti.gr/files/oil-spill-detection-dataset.zip</a:t>
            </a: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>
              <a:lnSpc>
                <a:spcPts val="2850"/>
              </a:lnSpc>
            </a:pP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93790" y="55465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1530906" y="5624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Arial Rounded MT Bold" panose="020F0704030504030204" pitchFamily="34" charset="0"/>
                <a:ea typeface="Tomorrow Semi Bold" pitchFamily="34" charset="-122"/>
                <a:cs typeface="Tomorrow Semi Bold" pitchFamily="34" charset="-120"/>
              </a:rPr>
              <a:t>Contact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30906" y="611481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Questions</a:t>
            </a: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</a:rPr>
              <a:t>?  Reach  out  at  -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  <a:hlinkClick r:id="rId4"/>
              </a:rPr>
              <a:t>code4ssr@gmail.com</a:t>
            </a: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61615C"/>
                </a:solidFill>
                <a:latin typeface="Arial Rounded MT Bold" panose="020F0704030504030204" pitchFamily="34" charset="0"/>
                <a:ea typeface="Tomorrow" pitchFamily="34" charset="-122"/>
                <a:cs typeface="Tomorrow" pitchFamily="34" charset="-120"/>
                <a:hlinkClick r:id="rId5"/>
              </a:rPr>
              <a:t>harshitrana1903@gmail.com</a:t>
            </a: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 smtClean="0">
              <a:solidFill>
                <a:srgbClr val="61615C"/>
              </a:solidFill>
              <a:latin typeface="Arial Rounded MT Bold" panose="020F0704030504030204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9932" y="7429478"/>
            <a:ext cx="3100468" cy="8001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468</Words>
  <Application>Microsoft Office PowerPoint</Application>
  <PresentationFormat>Custom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Tomorrow Medium</vt:lpstr>
      <vt:lpstr>Tomorrow Semi Bold</vt:lpstr>
      <vt:lpstr>Calibri</vt:lpstr>
      <vt:lpstr>Arial Rounded MT Bold</vt:lpstr>
      <vt:lpstr>Arial</vt:lpstr>
      <vt:lpstr>SimSun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Suryansh Singh</cp:lastModifiedBy>
  <cp:revision>16</cp:revision>
  <dcterms:created xsi:type="dcterms:W3CDTF">2025-05-06T11:07:03Z</dcterms:created>
  <dcterms:modified xsi:type="dcterms:W3CDTF">2025-05-10T13:56:56Z</dcterms:modified>
</cp:coreProperties>
</file>